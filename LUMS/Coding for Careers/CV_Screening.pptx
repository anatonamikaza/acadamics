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6"/>
  </p:notesMasterIdLst>
  <p:sldIdLst>
    <p:sldId id="274" r:id="rId2"/>
    <p:sldId id="275" r:id="rId3"/>
    <p:sldId id="282" r:id="rId4"/>
    <p:sldId id="283" r:id="rId5"/>
    <p:sldId id="284" r:id="rId6"/>
    <p:sldId id="285" r:id="rId7"/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71" r:id="rId20"/>
    <p:sldId id="268" r:id="rId21"/>
    <p:sldId id="269" r:id="rId22"/>
    <p:sldId id="270" r:id="rId23"/>
    <p:sldId id="286" r:id="rId24"/>
    <p:sldId id="272" r:id="rId25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37"/>
    <p:restoredTop sz="94712"/>
  </p:normalViewPr>
  <p:slideViewPr>
    <p:cSldViewPr snapToGrid="0">
      <p:cViewPr>
        <p:scale>
          <a:sx n="95" d="100"/>
          <a:sy n="95" d="100"/>
        </p:scale>
        <p:origin x="4080" y="15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87c9da81cf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g387c9da81cf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87c9da81cf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g387c9da81cf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87c9da81cf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g387c9da81cf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87c9da81cf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g387c9da81cf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87c9da81cf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g387c9da81cf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87c9da81cf_1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g387c9da81cf_1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87c9da81cf_1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g387c9da81cf_1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87c9da81cf_1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g387c9da81cf_1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87c9da81cf_1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g387c9da81cf_1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87c9da81cf_1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g387c9da81cf_1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>
          <a:extLst>
            <a:ext uri="{FF2B5EF4-FFF2-40B4-BE49-F238E27FC236}">
              <a16:creationId xmlns:a16="http://schemas.microsoft.com/office/drawing/2014/main" id="{4445D61D-5D29-1F9E-5194-C4A9DA25F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1:notes">
            <a:extLst>
              <a:ext uri="{FF2B5EF4-FFF2-40B4-BE49-F238E27FC236}">
                <a16:creationId xmlns:a16="http://schemas.microsoft.com/office/drawing/2014/main" id="{77CCA205-1893-BACE-3792-53CC74FD17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11:notes">
            <a:extLst>
              <a:ext uri="{FF2B5EF4-FFF2-40B4-BE49-F238E27FC236}">
                <a16:creationId xmlns:a16="http://schemas.microsoft.com/office/drawing/2014/main" id="{B3639318-5F24-4957-B8A3-0EEC748A68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817830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jobscan.co/blog/fortune-500-use-applicant-tracking-systems/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503.14772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igidai.github.io/2025/07/26/hirevue-deep-analysis/" TargetMode="External"/><Relationship Id="rId5" Type="http://schemas.openxmlformats.org/officeDocument/2006/relationships/hyperlink" Target="https://topai.tools/s/github-profile-analysis" TargetMode="External"/><Relationship Id="rId4" Type="http://schemas.openxmlformats.org/officeDocument/2006/relationships/hyperlink" Target="https://arxiv.org/abs/2206.14774" TargetMode="Externa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sz="4000" dirty="0"/>
              <a:t>GitHub &amp; LinkedIn: Your Digital CV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How to stand out in the job market</a:t>
            </a:r>
          </a:p>
          <a:p>
            <a:endParaRPr lang="en-US" dirty="0"/>
          </a:p>
          <a:p>
            <a:r>
              <a:rPr lang="en-US" dirty="0"/>
              <a:t>By: Abdul Rehman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000"/>
            </a:pPr>
            <a:r>
              <a:rPr dirty="0"/>
              <a:t>Section 1: The 3 C’s → Competition, Companies, CV</a:t>
            </a:r>
          </a:p>
          <a:p>
            <a:pPr>
              <a:defRPr sz="2000"/>
            </a:pPr>
            <a:r>
              <a:rPr dirty="0"/>
              <a:t>Section 2: What is Experience?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AF038-DAAF-F49D-1F99-8BF842368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0A845-332C-2DF2-452B-4366D67B9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Competition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B05776F-A993-5F6F-3535-04EC65238033}"/>
              </a:ext>
            </a:extLst>
          </p:cNvPr>
          <p:cNvGraphicFramePr>
            <a:graphicFrameLocks noGrp="1"/>
          </p:cNvGraphicFramePr>
          <p:nvPr/>
        </p:nvGraphicFramePr>
        <p:xfrm>
          <a:off x="482600" y="1953202"/>
          <a:ext cx="8178800" cy="3838251"/>
        </p:xfrm>
        <a:graphic>
          <a:graphicData uri="http://schemas.openxmlformats.org/drawingml/2006/table">
            <a:tbl>
              <a:tblPr firstRow="1" bandRow="1">
                <a:solidFill>
                  <a:srgbClr val="F7F7F7"/>
                </a:solidFill>
              </a:tblPr>
              <a:tblGrid>
                <a:gridCol w="4256450">
                  <a:extLst>
                    <a:ext uri="{9D8B030D-6E8A-4147-A177-3AD203B41FA5}">
                      <a16:colId xmlns:a16="http://schemas.microsoft.com/office/drawing/2014/main" val="1343658144"/>
                    </a:ext>
                  </a:extLst>
                </a:gridCol>
                <a:gridCol w="3922350">
                  <a:extLst>
                    <a:ext uri="{9D8B030D-6E8A-4147-A177-3AD203B41FA5}">
                      <a16:colId xmlns:a16="http://schemas.microsoft.com/office/drawing/2014/main" val="242010942"/>
                    </a:ext>
                  </a:extLst>
                </a:gridCol>
              </a:tblGrid>
              <a:tr h="714709">
                <a:tc>
                  <a:txBody>
                    <a:bodyPr/>
                    <a:lstStyle/>
                    <a:p>
                      <a:r>
                        <a:rPr lang="en-GB" sz="1700" b="1" cap="all" spc="60">
                          <a:solidFill>
                            <a:schemeClr val="tx1"/>
                          </a:solidFill>
                        </a:rPr>
                        <a:t>Category</a:t>
                      </a:r>
                    </a:p>
                  </a:txBody>
                  <a:tcPr marL="198530" marR="198530" marT="198530" marB="1985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700" b="1" cap="all" spc="60">
                          <a:solidFill>
                            <a:schemeClr val="tx1"/>
                          </a:solidFill>
                        </a:rPr>
                        <a:t>Estimate (high-end/year)</a:t>
                      </a:r>
                    </a:p>
                  </a:txBody>
                  <a:tcPr marL="198530" marR="198530" marT="198530" marB="1985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5880364"/>
                  </a:ext>
                </a:extLst>
              </a:tr>
              <a:tr h="604414">
                <a:tc>
                  <a:txBody>
                    <a:bodyPr/>
                    <a:lstStyle/>
                    <a:p>
                      <a:r>
                        <a:rPr lang="en-GB" sz="2300" cap="none" spc="0">
                          <a:solidFill>
                            <a:schemeClr val="tx1"/>
                          </a:solidFill>
                        </a:rPr>
                        <a:t>Lahore CS degree holders</a:t>
                      </a:r>
                    </a:p>
                  </a:txBody>
                  <a:tcPr marL="132353" marR="132353" marT="66177" marB="13235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PK" sz="2300" cap="none" spc="0" dirty="0">
                          <a:solidFill>
                            <a:schemeClr val="tx1"/>
                          </a:solidFill>
                        </a:rPr>
                        <a:t>~16,000</a:t>
                      </a:r>
                    </a:p>
                  </a:txBody>
                  <a:tcPr marL="132353" marR="132353" marT="66177" marB="13235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7970430"/>
                  </a:ext>
                </a:extLst>
              </a:tr>
              <a:tr h="604414">
                <a:tc>
                  <a:txBody>
                    <a:bodyPr/>
                    <a:lstStyle/>
                    <a:p>
                      <a:r>
                        <a:rPr lang="en-GB" sz="2300" cap="none" spc="0">
                          <a:solidFill>
                            <a:schemeClr val="tx1"/>
                          </a:solidFill>
                        </a:rPr>
                        <a:t>Other-city CS degree holders</a:t>
                      </a:r>
                    </a:p>
                  </a:txBody>
                  <a:tcPr marL="132353" marR="132353" marT="66177" marB="13235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PK" sz="2300" cap="none" spc="0" dirty="0">
                          <a:solidFill>
                            <a:schemeClr val="tx1"/>
                          </a:solidFill>
                        </a:rPr>
                        <a:t>~9,000</a:t>
                      </a:r>
                    </a:p>
                  </a:txBody>
                  <a:tcPr marL="132353" marR="132353" marT="66177" marB="13235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3452203"/>
                  </a:ext>
                </a:extLst>
              </a:tr>
              <a:tr h="957357">
                <a:tc>
                  <a:txBody>
                    <a:bodyPr/>
                    <a:lstStyle/>
                    <a:p>
                      <a:r>
                        <a:rPr lang="en-GB" sz="2300" cap="none" spc="0">
                          <a:solidFill>
                            <a:schemeClr val="tx1"/>
                          </a:solidFill>
                        </a:rPr>
                        <a:t>Certificate / crash course entrants</a:t>
                      </a:r>
                    </a:p>
                  </a:txBody>
                  <a:tcPr marL="132353" marR="132353" marT="66177" marB="13235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PK" sz="2300" cap="none" spc="0" dirty="0">
                          <a:solidFill>
                            <a:schemeClr val="tx1"/>
                          </a:solidFill>
                        </a:rPr>
                        <a:t>~25,000</a:t>
                      </a:r>
                    </a:p>
                  </a:txBody>
                  <a:tcPr marL="132353" marR="132353" marT="66177" marB="13235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3286832"/>
                  </a:ext>
                </a:extLst>
              </a:tr>
              <a:tr h="957357">
                <a:tc>
                  <a:txBody>
                    <a:bodyPr/>
                    <a:lstStyle/>
                    <a:p>
                      <a:r>
                        <a:rPr lang="en-GB" sz="2300" b="1" cap="none" spc="0">
                          <a:solidFill>
                            <a:schemeClr val="tx1"/>
                          </a:solidFill>
                        </a:rPr>
                        <a:t>Total Estimated Competition</a:t>
                      </a:r>
                      <a:endParaRPr lang="en-GB" sz="2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32353" marR="132353" marT="66177" marB="13235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300" b="1" cap="none" spc="0" dirty="0">
                          <a:solidFill>
                            <a:schemeClr val="tx1"/>
                          </a:solidFill>
                        </a:rPr>
                        <a:t>~50,000 CS/IT job seekers per year</a:t>
                      </a:r>
                      <a:endParaRPr lang="en-GB" sz="23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2353" marR="132353" marT="66177" marB="13235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56107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1336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Companies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000"/>
            </a:pPr>
            <a:r>
              <a:rPr lang="en-US" dirty="0"/>
              <a:t>Around ~880 registered software houses in Lahore.</a:t>
            </a:r>
          </a:p>
          <a:p>
            <a:pPr>
              <a:defRPr sz="2000"/>
            </a:pPr>
            <a:r>
              <a:rPr lang="en-US" dirty="0"/>
              <a:t>With Unregistered small firms, </a:t>
            </a:r>
            <a:r>
              <a:rPr dirty="0"/>
              <a:t>3,000+ software houses in Lahore</a:t>
            </a:r>
            <a:endParaRPr lang="en-US" dirty="0"/>
          </a:p>
          <a:p>
            <a:pPr>
              <a:defRPr sz="2000"/>
            </a:pPr>
            <a:r>
              <a:rPr lang="en-PK" dirty="0"/>
              <a:t>New Positions open based on Company Growth</a:t>
            </a:r>
            <a:endParaRPr dirty="0"/>
          </a:p>
          <a:p>
            <a:pPr>
              <a:defRPr sz="2000"/>
            </a:pPr>
            <a:r>
              <a:rPr dirty="0"/>
              <a:t>Limited junior openings per year</a:t>
            </a:r>
            <a:endParaRPr lang="en-US" dirty="0"/>
          </a:p>
          <a:p>
            <a:pPr>
              <a:defRPr sz="2000"/>
            </a:pPr>
            <a:r>
              <a:rPr lang="en-GB" dirty="0"/>
              <a:t>Job switchers further decrease Opportunities</a:t>
            </a:r>
            <a:endParaRPr dirty="0"/>
          </a:p>
          <a:p>
            <a:pPr>
              <a:defRPr sz="2000"/>
            </a:pPr>
            <a:r>
              <a:rPr dirty="0"/>
              <a:t>Companies want proof of skill, not just degrees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000"/>
            </a:pPr>
            <a:r>
              <a:rPr dirty="0"/>
              <a:t>Hardcopy CV = First impression</a:t>
            </a:r>
          </a:p>
          <a:p>
            <a:pPr>
              <a:defRPr sz="2000"/>
            </a:pPr>
            <a:r>
              <a:rPr dirty="0"/>
              <a:t>Digital CV = LinkedIn + GitHub</a:t>
            </a:r>
          </a:p>
          <a:p>
            <a:pPr>
              <a:defRPr sz="2000"/>
            </a:pPr>
            <a:r>
              <a:rPr dirty="0"/>
              <a:t>Recruiters Google you before shortlisting</a:t>
            </a:r>
            <a:endParaRPr lang="en-US" dirty="0"/>
          </a:p>
          <a:p>
            <a:pPr>
              <a:defRPr sz="2000"/>
            </a:pPr>
            <a:r>
              <a:rPr lang="en-PK" dirty="0"/>
              <a:t>Profile Stacking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Experience?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4525963"/>
          </a:xfrm>
        </p:spPr>
        <p:txBody>
          <a:bodyPr/>
          <a:lstStyle/>
          <a:p>
            <a:endParaRPr dirty="0"/>
          </a:p>
          <a:p>
            <a:pPr>
              <a:defRPr sz="2000"/>
            </a:pPr>
            <a:r>
              <a:rPr dirty="0"/>
              <a:t>Experience = </a:t>
            </a:r>
            <a:r>
              <a:rPr lang="en-US" dirty="0"/>
              <a:t>What is written or </a:t>
            </a:r>
            <a:r>
              <a:rPr dirty="0"/>
              <a:t>What can be validated</a:t>
            </a:r>
            <a:r>
              <a:rPr lang="en-US" dirty="0"/>
              <a:t> ?</a:t>
            </a:r>
            <a:endParaRPr dirty="0"/>
          </a:p>
          <a:p>
            <a:pPr>
              <a:defRPr sz="2000"/>
            </a:pPr>
            <a:r>
              <a:rPr dirty="0"/>
              <a:t>“5 years in Python” means nothing without proof</a:t>
            </a:r>
          </a:p>
          <a:p>
            <a:pPr>
              <a:defRPr sz="2000"/>
            </a:pPr>
            <a:r>
              <a:rPr dirty="0"/>
              <a:t>In the ChatGPT era → validation matters more than ever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7C6219C-01C1-2082-9C29-EC001AD22FA8}"/>
              </a:ext>
            </a:extLst>
          </p:cNvPr>
          <p:cNvSpPr txBox="1">
            <a:spLocks/>
          </p:cNvSpPr>
          <p:nvPr/>
        </p:nvSpPr>
        <p:spPr>
          <a:xfrm>
            <a:off x="457200" y="308215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How Experience is Validated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56E2EA1-1E96-9C00-15D2-B9484C670CBF}"/>
              </a:ext>
            </a:extLst>
          </p:cNvPr>
          <p:cNvSpPr txBox="1">
            <a:spLocks/>
          </p:cNvSpPr>
          <p:nvPr/>
        </p:nvSpPr>
        <p:spPr>
          <a:xfrm>
            <a:off x="457200" y="4029348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  <a:p>
            <a:pPr>
              <a:defRPr sz="2000"/>
            </a:pPr>
            <a:r>
              <a:rPr lang="en-GB" sz="2000" dirty="0"/>
              <a:t>GitHub → Code, commits, projects = proof</a:t>
            </a:r>
          </a:p>
          <a:p>
            <a:pPr>
              <a:defRPr sz="2000"/>
            </a:pPr>
            <a:r>
              <a:rPr lang="en-GB" sz="2000" dirty="0"/>
              <a:t>LinkedIn → Endorsements, recommendations, employer tags = proof</a:t>
            </a:r>
          </a:p>
          <a:p>
            <a:pPr>
              <a:defRPr sz="2000"/>
            </a:pPr>
            <a:r>
              <a:rPr lang="en-GB" sz="2000" dirty="0"/>
              <a:t>Freelancing Profiles</a:t>
            </a:r>
          </a:p>
          <a:p>
            <a:pPr>
              <a:defRPr sz="2000"/>
            </a:pPr>
            <a:r>
              <a:rPr lang="en-GB" sz="2000" dirty="0"/>
              <a:t>Portfolio/Website → Public track record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GB" sz="4000"/>
              <a:t>CV Screening in the Modern Market</a:t>
            </a:r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rPr lang="en-GB"/>
              <a:t>From job fairs to AI-powered applicant tracking systems</a:t>
            </a:r>
            <a:endParaRPr/>
          </a:p>
          <a:p>
            <a:pPr marL="0" lvl="0" indent="0" algn="ctr" rtl="0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endParaRPr/>
          </a:p>
          <a:p>
            <a:pPr marL="0" lvl="0" indent="0" algn="ctr" rtl="0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rPr lang="en-GB"/>
              <a:t>By: Abdul Rehman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GB"/>
              <a:t>Section 1: What is CV Screening?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GB"/>
              <a:t>Section 2: Evolution of CV Screening?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GB"/>
              <a:t>Section 3: How ATS &amp; AI ATS Work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GB"/>
              <a:t>Closing Checklist + Q&amp;A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Hiring Workflow</a:t>
            </a:r>
            <a:endParaRPr/>
          </a:p>
        </p:txBody>
      </p:sp>
      <p:sp>
        <p:nvSpPr>
          <p:cNvPr id="97" name="Google Shape;97;p15"/>
          <p:cNvSpPr txBox="1">
            <a:spLocks noGrp="1"/>
          </p:cNvSpPr>
          <p:nvPr>
            <p:ph type="body" idx="1"/>
          </p:nvPr>
        </p:nvSpPr>
        <p:spPr>
          <a:xfrm>
            <a:off x="550050" y="3429000"/>
            <a:ext cx="6609600" cy="686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highlight>
                  <a:schemeClr val="lt1"/>
                </a:highlight>
              </a:rPr>
              <a:t>                                                           </a:t>
            </a:r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98" name="Google Shape;9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513" y="1608126"/>
            <a:ext cx="8970974" cy="448025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5"/>
          <p:cNvSpPr/>
          <p:nvPr/>
        </p:nvSpPr>
        <p:spPr>
          <a:xfrm>
            <a:off x="1863725" y="3480750"/>
            <a:ext cx="5130900" cy="686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>
            <a:spLocks noGrp="1"/>
          </p:cNvSpPr>
          <p:nvPr>
            <p:ph type="title"/>
          </p:nvPr>
        </p:nvSpPr>
        <p:spPr>
          <a:xfrm>
            <a:off x="52025" y="3064500"/>
            <a:ext cx="2943900" cy="729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0"/>
              <a:buFont typeface="Calibri"/>
              <a:buNone/>
            </a:pPr>
            <a:r>
              <a:rPr lang="en-GB" sz="2800"/>
              <a:t>Job Fair</a:t>
            </a:r>
            <a:endParaRPr sz="2800"/>
          </a:p>
        </p:txBody>
      </p:sp>
      <p:pic>
        <p:nvPicPr>
          <p:cNvPr id="105" name="Google Shape;10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27875" y="1449350"/>
            <a:ext cx="6016125" cy="400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>
            <a:spLocks noGrp="1"/>
          </p:cNvSpPr>
          <p:nvPr>
            <p:ph type="title"/>
          </p:nvPr>
        </p:nvSpPr>
        <p:spPr>
          <a:xfrm>
            <a:off x="52025" y="3064500"/>
            <a:ext cx="2943900" cy="729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0"/>
              <a:buFont typeface="Calibri"/>
              <a:buNone/>
            </a:pPr>
            <a:r>
              <a:rPr lang="en-GB" sz="2800"/>
              <a:t>Online Form</a:t>
            </a:r>
            <a:endParaRPr sz="2800"/>
          </a:p>
        </p:txBody>
      </p:sp>
      <p:pic>
        <p:nvPicPr>
          <p:cNvPr id="111" name="Google Shape;111;p17" title="Screen Shot 2025-10-01 at 2.37.22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1800" y="156188"/>
            <a:ext cx="3401726" cy="654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13525" y="1014350"/>
            <a:ext cx="2630475" cy="48293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>
            <a:spLocks noGrp="1"/>
          </p:cNvSpPr>
          <p:nvPr>
            <p:ph type="title"/>
          </p:nvPr>
        </p:nvSpPr>
        <p:spPr>
          <a:xfrm>
            <a:off x="52025" y="3064500"/>
            <a:ext cx="2943900" cy="729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0"/>
              <a:buFont typeface="Calibri"/>
              <a:buNone/>
            </a:pPr>
            <a:r>
              <a:rPr lang="en-GB" sz="2800"/>
              <a:t>Email</a:t>
            </a:r>
            <a:endParaRPr sz="2800"/>
          </a:p>
        </p:txBody>
      </p:sp>
      <p:pic>
        <p:nvPicPr>
          <p:cNvPr id="118" name="Google Shape;118;p18"/>
          <p:cNvPicPr preferRelativeResize="0"/>
          <p:nvPr/>
        </p:nvPicPr>
        <p:blipFill rotWithShape="1">
          <a:blip r:embed="rId3">
            <a:alphaModFix/>
          </a:blip>
          <a:srcRect t="13260" b="9099"/>
          <a:stretch/>
        </p:blipFill>
        <p:spPr>
          <a:xfrm>
            <a:off x="3212200" y="1590162"/>
            <a:ext cx="5843276" cy="367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Traditional Screening (Past)</a:t>
            </a:r>
            <a:endParaRPr/>
          </a:p>
        </p:txBody>
      </p:sp>
      <p:sp>
        <p:nvSpPr>
          <p:cNvPr id="124" name="Google Shape;124;p1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7973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2200"/>
          </a:p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2200"/>
          </a:p>
          <a:p>
            <a:pPr marL="457200" lvl="0" indent="-368300" algn="l" rtl="0">
              <a:spcBef>
                <a:spcPts val="400"/>
              </a:spcBef>
              <a:spcAft>
                <a:spcPts val="0"/>
              </a:spcAft>
              <a:buSzPts val="2200"/>
              <a:buChar char="•"/>
            </a:pPr>
            <a:r>
              <a:rPr lang="en-GB" sz="2200"/>
              <a:t>Recruiters or HR assistants manually read through printed CVs</a:t>
            </a:r>
            <a:br>
              <a:rPr lang="en-GB" sz="2200"/>
            </a:br>
            <a:endParaRPr sz="22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GB" sz="2200"/>
              <a:t>Screening focused on keywords (e.g., “BSCS”), job titles, or years of experience</a:t>
            </a:r>
            <a:endParaRPr sz="2200"/>
          </a:p>
        </p:txBody>
      </p:sp>
      <p:pic>
        <p:nvPicPr>
          <p:cNvPr id="125" name="Google Shape;12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8800" y="2668338"/>
            <a:ext cx="3584700" cy="238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Excel Era (Mid-Sized Companies)</a:t>
            </a:r>
            <a:endParaRPr/>
          </a:p>
        </p:txBody>
      </p:sp>
      <p:sp>
        <p:nvSpPr>
          <p:cNvPr id="131" name="Google Shape;131;p2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7973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2200"/>
          </a:p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2200"/>
          </a:p>
          <a:p>
            <a:pPr marL="342900" lvl="0" indent="-3683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Char char="•"/>
            </a:pPr>
            <a:r>
              <a:rPr lang="en-GB" sz="2200"/>
              <a:t>CV data was copied into </a:t>
            </a:r>
            <a:r>
              <a:rPr lang="en-GB" sz="2200" b="1"/>
              <a:t>Excel sheets</a:t>
            </a:r>
            <a:r>
              <a:rPr lang="en-GB" sz="2200"/>
              <a:t> for filtering.</a:t>
            </a:r>
            <a:br>
              <a:rPr lang="en-GB" sz="2200"/>
            </a:br>
            <a:endParaRPr sz="2200"/>
          </a:p>
          <a:p>
            <a:pPr marL="3429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Calibri"/>
              <a:buChar char="•"/>
            </a:pPr>
            <a:r>
              <a:rPr lang="en-GB" sz="2200"/>
              <a:t>Recruiters searched by degree, skills, or experience ranges.</a:t>
            </a:r>
            <a:endParaRPr sz="2200"/>
          </a:p>
        </p:txBody>
      </p:sp>
      <p:pic>
        <p:nvPicPr>
          <p:cNvPr id="132" name="Google Shape;132;p20" title="Screen Shot 2025-10-01 at 3.10.13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4500" y="2307137"/>
            <a:ext cx="3842251" cy="224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Modern Screening (Today)</a:t>
            </a:r>
            <a:endParaRPr/>
          </a:p>
        </p:txBody>
      </p:sp>
      <p:sp>
        <p:nvSpPr>
          <p:cNvPr id="138" name="Google Shape;138;p2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7973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2200"/>
          </a:p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2200"/>
          </a:p>
          <a:p>
            <a:pPr marL="342900" lvl="0" indent="-3683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Char char="•"/>
            </a:pPr>
            <a:r>
              <a:rPr lang="en-GB" sz="2200"/>
              <a:t>Large companies and multinationals use Applicant Tracking Systems (ATS).</a:t>
            </a:r>
            <a:br>
              <a:rPr lang="en-GB" sz="2200"/>
            </a:br>
            <a:endParaRPr sz="2200"/>
          </a:p>
          <a:p>
            <a:pPr marL="3429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Calibri"/>
              <a:buChar char="•"/>
            </a:pPr>
            <a:r>
              <a:rPr lang="en-GB" sz="2200"/>
              <a:t>Many applications are filtered out before a human sees them.</a:t>
            </a:r>
            <a:endParaRPr sz="2200"/>
          </a:p>
        </p:txBody>
      </p:sp>
      <p:pic>
        <p:nvPicPr>
          <p:cNvPr id="139" name="Google Shape;13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4500" y="2145912"/>
            <a:ext cx="3826524" cy="2566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2" title="Screen Shot 2025-10-01 at 3.47.34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9100" y="148200"/>
            <a:ext cx="6965801" cy="606087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2"/>
          <p:cNvSpPr txBox="1"/>
          <p:nvPr/>
        </p:nvSpPr>
        <p:spPr>
          <a:xfrm>
            <a:off x="1162350" y="6209075"/>
            <a:ext cx="6819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Source: </a:t>
            </a:r>
            <a:r>
              <a:rPr lang="en-GB" u="sng">
                <a:solidFill>
                  <a:schemeClr val="hlink"/>
                </a:solidFill>
                <a:hlinkClick r:id="rId4"/>
              </a:rPr>
              <a:t>https://www.jobscan.co/blog/fortune-500-use-applicant-tracking-systems/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How ATS Works</a:t>
            </a:r>
            <a:endParaRPr/>
          </a:p>
        </p:txBody>
      </p:sp>
      <p:sp>
        <p:nvSpPr>
          <p:cNvPr id="151" name="Google Shape;151;p2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365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n-GB" sz="1700" b="1" dirty="0"/>
              <a:t>Parsing:</a:t>
            </a:r>
            <a:r>
              <a:rPr lang="en-GB" sz="1700" dirty="0"/>
              <a:t> Extracts CV text → Education, Skills, Experience.</a:t>
            </a:r>
            <a:br>
              <a:rPr lang="en-GB" sz="1700" dirty="0"/>
            </a:br>
            <a:endParaRPr sz="1700" dirty="0"/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 b="1" dirty="0"/>
              <a:t>Context Matching:</a:t>
            </a:r>
            <a:r>
              <a:rPr lang="en-GB" sz="1700" dirty="0"/>
              <a:t> Understands meaning, not just keywords.</a:t>
            </a:r>
            <a:br>
              <a:rPr lang="en-GB" sz="1700" dirty="0"/>
            </a:br>
            <a:br>
              <a:rPr lang="en-GB" sz="1700" dirty="0"/>
            </a:br>
            <a:r>
              <a:rPr lang="en-GB" sz="1700" dirty="0"/>
              <a:t> “Developed REST APIs in Django” ≈ “Backend development in Django.”</a:t>
            </a:r>
            <a:br>
              <a:rPr lang="en-GB" sz="1700" dirty="0"/>
            </a:br>
            <a:endParaRPr sz="1700" dirty="0"/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 b="1" dirty="0"/>
              <a:t>Scoring:</a:t>
            </a:r>
            <a:r>
              <a:rPr lang="en-GB" sz="1700" dirty="0"/>
              <a:t> Compares against job description.</a:t>
            </a:r>
            <a:br>
              <a:rPr lang="en-GB" sz="1700" dirty="0"/>
            </a:br>
            <a:endParaRPr sz="1700" dirty="0"/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 b="1" dirty="0"/>
              <a:t>Profile Health Score:</a:t>
            </a:r>
            <a:r>
              <a:rPr lang="en-GB" sz="1700" dirty="0"/>
              <a:t> Generates fit % or score bar.</a:t>
            </a:r>
            <a:endParaRPr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Recruiter’s Workflow (Today)</a:t>
            </a:r>
            <a:endParaRPr/>
          </a:p>
        </p:txBody>
      </p:sp>
      <p:sp>
        <p:nvSpPr>
          <p:cNvPr id="157" name="Google Shape;157;p2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2500"/>
          </a:p>
          <a:p>
            <a:pPr marL="457200" lvl="0" indent="-387350" algn="l" rtl="0">
              <a:spcBef>
                <a:spcPts val="400"/>
              </a:spcBef>
              <a:spcAft>
                <a:spcPts val="0"/>
              </a:spcAft>
              <a:buSzPts val="2500"/>
              <a:buChar char="●"/>
            </a:pPr>
            <a:r>
              <a:rPr lang="en-GB" sz="2500"/>
              <a:t>200 CVs received.</a:t>
            </a:r>
            <a:br>
              <a:rPr lang="en-GB" sz="2500"/>
            </a:br>
            <a:endParaRPr sz="2500"/>
          </a:p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GB" sz="2500"/>
              <a:t>ATS ranks &amp; filters → top 20–30 shown.</a:t>
            </a:r>
            <a:br>
              <a:rPr lang="en-GB" sz="2500"/>
            </a:br>
            <a:endParaRPr sz="2500"/>
          </a:p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GB" sz="2500"/>
              <a:t>Recruiter reviews shortlisted ones.</a:t>
            </a:r>
            <a:br>
              <a:rPr lang="en-GB" sz="2500"/>
            </a:br>
            <a:endParaRPr sz="2500"/>
          </a:p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GB" sz="2500"/>
              <a:t>Top 5–10 move to coding test/interview.</a:t>
            </a:r>
            <a:endParaRPr sz="2500"/>
          </a:p>
          <a:p>
            <a:pPr marL="45720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25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Impact of CV Formatting</a:t>
            </a:r>
            <a:endParaRPr/>
          </a:p>
        </p:txBody>
      </p:sp>
      <p:pic>
        <p:nvPicPr>
          <p:cNvPr id="184" name="Google Shape;18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4800" y="1548938"/>
            <a:ext cx="3628494" cy="513556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85" name="Google Shape;185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175" y="1548938"/>
            <a:ext cx="3630615" cy="5135563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86" name="Google Shape;186;p28"/>
          <p:cNvSpPr txBox="1"/>
          <p:nvPr/>
        </p:nvSpPr>
        <p:spPr>
          <a:xfrm>
            <a:off x="3864525" y="3625225"/>
            <a:ext cx="17862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CV with graphics, tables, or PDF columns might parse incorrectly.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One CV, Different Job Descriptions</a:t>
            </a:r>
            <a:endParaRPr/>
          </a:p>
        </p:txBody>
      </p:sp>
      <p:pic>
        <p:nvPicPr>
          <p:cNvPr id="163" name="Google Shape;16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70038"/>
            <a:ext cx="4244459" cy="5135561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64" name="Google Shape;164;p25" title="Screen Shot 2025-10-01 at 3.23.50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09709" y="1570038"/>
            <a:ext cx="4185389" cy="5135561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One CV, Different ATS Platforms</a:t>
            </a:r>
            <a:endParaRPr/>
          </a:p>
        </p:txBody>
      </p:sp>
      <p:pic>
        <p:nvPicPr>
          <p:cNvPr id="170" name="Google Shape;17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61714"/>
            <a:ext cx="9144003" cy="35316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Keyword Optimization &amp; Wording</a:t>
            </a:r>
            <a:endParaRPr/>
          </a:p>
        </p:txBody>
      </p:sp>
      <p:pic>
        <p:nvPicPr>
          <p:cNvPr id="176" name="Google Shape;176;p27" title="Screen Shot 2025-10-01 at 3.52.54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90775" y="2320100"/>
            <a:ext cx="4753224" cy="239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7"/>
          <p:cNvPicPr preferRelativeResize="0"/>
          <p:nvPr/>
        </p:nvPicPr>
        <p:blipFill rotWithShape="1">
          <a:blip r:embed="rId4">
            <a:alphaModFix/>
          </a:blip>
          <a:srcRect t="6028" r="66685" b="50092"/>
          <a:stretch/>
        </p:blipFill>
        <p:spPr>
          <a:xfrm>
            <a:off x="0" y="2320100"/>
            <a:ext cx="4624891" cy="235267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7"/>
          <p:cNvSpPr txBox="1"/>
          <p:nvPr/>
        </p:nvSpPr>
        <p:spPr>
          <a:xfrm>
            <a:off x="1541600" y="4983775"/>
            <a:ext cx="6263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small wording changes affect matching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>
          <a:extLst>
            <a:ext uri="{FF2B5EF4-FFF2-40B4-BE49-F238E27FC236}">
              <a16:creationId xmlns:a16="http://schemas.microsoft.com/office/drawing/2014/main" id="{DB72FEB0-A53F-5706-2C0D-9309ABA01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4">
            <a:extLst>
              <a:ext uri="{FF2B5EF4-FFF2-40B4-BE49-F238E27FC236}">
                <a16:creationId xmlns:a16="http://schemas.microsoft.com/office/drawing/2014/main" id="{E1C53AEB-71EE-BC43-B8AE-7881C4579E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dirty="0"/>
              <a:t>Adv. </a:t>
            </a:r>
            <a:r>
              <a:rPr lang="en-GB" dirty="0" err="1"/>
              <a:t>Intellegent</a:t>
            </a:r>
            <a:r>
              <a:rPr lang="en-GB" dirty="0"/>
              <a:t> ATS (2025 &amp; Beyond)</a:t>
            </a:r>
            <a:endParaRPr dirty="0"/>
          </a:p>
        </p:txBody>
      </p:sp>
      <p:sp>
        <p:nvSpPr>
          <p:cNvPr id="157" name="Google Shape;157;p24">
            <a:extLst>
              <a:ext uri="{FF2B5EF4-FFF2-40B4-BE49-F238E27FC236}">
                <a16:creationId xmlns:a16="http://schemas.microsoft.com/office/drawing/2014/main" id="{08A8E3D9-FA24-DC78-5170-1D116A577E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114300" indent="0">
              <a:buNone/>
            </a:pPr>
            <a:r>
              <a:rPr lang="en-GB" sz="1600" b="1" dirty="0"/>
              <a:t>Cross-Platform Profile Inference (GitHub + LinkedIn + Social Media)</a:t>
            </a:r>
            <a:br>
              <a:rPr lang="en-GB" sz="1600" b="1" dirty="0"/>
            </a:br>
            <a:r>
              <a:rPr lang="en-GB" sz="1600" b="1" dirty="0"/>
              <a:t>VIKI – Cross-Platform Profile Inference (Research Paper)</a:t>
            </a:r>
            <a:br>
              <a:rPr lang="en-GB" sz="1600" dirty="0"/>
            </a:br>
            <a:r>
              <a:rPr lang="en-GB" sz="1600" dirty="0">
                <a:hlinkClick r:id="rId3"/>
              </a:rPr>
              <a:t>https://arxiv.org/abs/2503.14772</a:t>
            </a:r>
            <a:endParaRPr lang="en-GB" sz="1600" dirty="0"/>
          </a:p>
          <a:p>
            <a:pPr marL="114300" indent="0">
              <a:buNone/>
            </a:pPr>
            <a:endParaRPr lang="en-GB" sz="1600" b="1" dirty="0"/>
          </a:p>
          <a:p>
            <a:pPr marL="114300" indent="0">
              <a:buNone/>
            </a:pPr>
            <a:r>
              <a:rPr lang="en-GB" sz="1600" b="1" dirty="0"/>
              <a:t>Social Media NLP (for Personality / </a:t>
            </a:r>
            <a:r>
              <a:rPr lang="en-GB" sz="1600" b="1" dirty="0" err="1"/>
              <a:t>Behavior</a:t>
            </a:r>
            <a:r>
              <a:rPr lang="en-GB" sz="1600" b="1" dirty="0"/>
              <a:t> Analysis)</a:t>
            </a:r>
          </a:p>
          <a:p>
            <a:pPr marL="114300" indent="0">
              <a:buNone/>
            </a:pPr>
            <a:r>
              <a:rPr lang="en-GB" sz="1600" b="1" dirty="0" err="1"/>
              <a:t>TweetNLP</a:t>
            </a:r>
            <a:r>
              <a:rPr lang="en-GB" sz="1600" b="1" dirty="0"/>
              <a:t> – State-of-the-Art NLP for Social Media</a:t>
            </a:r>
            <a:br>
              <a:rPr lang="en-GB" sz="1600" dirty="0"/>
            </a:br>
            <a:r>
              <a:rPr lang="en-GB" sz="1600" dirty="0">
                <a:hlinkClick r:id="rId4"/>
              </a:rPr>
              <a:t>https://arxiv.org/abs/2206.14774</a:t>
            </a:r>
            <a:endParaRPr lang="en-GB" sz="1600" dirty="0"/>
          </a:p>
          <a:p>
            <a:pPr marL="114300" indent="0">
              <a:buNone/>
            </a:pPr>
            <a:endParaRPr lang="en-GB" sz="1600" b="1" dirty="0"/>
          </a:p>
          <a:p>
            <a:pPr marL="114300" indent="0">
              <a:buNone/>
            </a:pPr>
            <a:r>
              <a:rPr lang="en-GB" sz="1600" b="1" dirty="0"/>
              <a:t>GitHub Coding Skill / Activity Analysis</a:t>
            </a:r>
          </a:p>
          <a:p>
            <a:pPr marL="114300" indent="0">
              <a:buNone/>
            </a:pPr>
            <a:r>
              <a:rPr lang="en-GB" sz="1600" b="1" dirty="0" err="1"/>
              <a:t>TopDev</a:t>
            </a:r>
            <a:r>
              <a:rPr lang="en-GB" sz="1600" b="1" dirty="0"/>
              <a:t> – GitHub Profile Analysis Tools</a:t>
            </a:r>
            <a:br>
              <a:rPr lang="en-GB" sz="1600" dirty="0"/>
            </a:br>
            <a:r>
              <a:rPr lang="en-GB" sz="1600" dirty="0">
                <a:hlinkClick r:id="rId5"/>
              </a:rPr>
              <a:t>https://topai.tools/s/github-profile-analysis</a:t>
            </a:r>
            <a:endParaRPr lang="en-GB" sz="1600" dirty="0"/>
          </a:p>
          <a:p>
            <a:pPr marL="114300" indent="0">
              <a:buNone/>
            </a:pPr>
            <a:endParaRPr lang="en-GB" sz="1600" b="1" dirty="0"/>
          </a:p>
          <a:p>
            <a:pPr marL="114300" indent="0">
              <a:buNone/>
            </a:pPr>
            <a:r>
              <a:rPr lang="en-GB" sz="1600" b="1" dirty="0"/>
              <a:t>AI Recruiting / Talent Intelligence Platforms</a:t>
            </a:r>
          </a:p>
          <a:p>
            <a:pPr marL="114300" indent="0">
              <a:buNone/>
            </a:pPr>
            <a:r>
              <a:rPr lang="en-GB" sz="1600" b="1" dirty="0" err="1"/>
              <a:t>Eightfold.ai</a:t>
            </a:r>
            <a:r>
              <a:rPr lang="en-GB" sz="1600" b="1" dirty="0"/>
              <a:t> </a:t>
            </a:r>
            <a:r>
              <a:rPr lang="en-GB" sz="1600" dirty="0"/>
              <a:t>(Uses skills-based matching, AI inference, bias-masking)</a:t>
            </a:r>
            <a:br>
              <a:rPr lang="en-GB" sz="1600" dirty="0"/>
            </a:br>
            <a:r>
              <a:rPr lang="en-GB" sz="1600" b="1" dirty="0" err="1"/>
              <a:t>Torre.ai</a:t>
            </a:r>
            <a:r>
              <a:rPr lang="en-GB" sz="1600" b="1" dirty="0"/>
              <a:t> </a:t>
            </a:r>
            <a:r>
              <a:rPr lang="en-GB" sz="1600" dirty="0"/>
              <a:t>(Professional genome: skills, personality, preferences, traits)</a:t>
            </a:r>
            <a:br>
              <a:rPr lang="en-GB" sz="1600" dirty="0"/>
            </a:br>
            <a:r>
              <a:rPr lang="en-GB" sz="1600" b="1" dirty="0" err="1"/>
              <a:t>Syman</a:t>
            </a:r>
            <a:r>
              <a:rPr lang="en-GB" sz="1600" b="1" dirty="0"/>
              <a:t> / Identified </a:t>
            </a:r>
            <a:r>
              <a:rPr lang="en-GB" sz="1600" dirty="0"/>
              <a:t>(Early AI that </a:t>
            </a:r>
            <a:r>
              <a:rPr lang="en-GB" sz="1600" dirty="0" err="1"/>
              <a:t>analyzed</a:t>
            </a:r>
            <a:r>
              <a:rPr lang="en-GB" sz="1600" dirty="0"/>
              <a:t> social profiles for recruiting insights)</a:t>
            </a:r>
            <a:br>
              <a:rPr lang="en-GB" sz="1600" dirty="0"/>
            </a:br>
            <a:r>
              <a:rPr lang="en-GB" sz="1600" b="1" dirty="0" err="1"/>
              <a:t>HireEZ</a:t>
            </a:r>
            <a:r>
              <a:rPr lang="en-GB" sz="1600" b="1" dirty="0"/>
              <a:t> (formerly </a:t>
            </a:r>
            <a:r>
              <a:rPr lang="en-GB" sz="1600" b="1" dirty="0" err="1"/>
              <a:t>Hiretual</a:t>
            </a:r>
            <a:r>
              <a:rPr lang="en-GB" sz="1600" b="1" dirty="0"/>
              <a:t>) </a:t>
            </a:r>
            <a:r>
              <a:rPr lang="en-GB" sz="1600" dirty="0"/>
              <a:t>(AI talent sourcing; aggregates GitHub + LinkedIn data)</a:t>
            </a:r>
            <a:br>
              <a:rPr lang="en-GB" sz="1600" dirty="0"/>
            </a:br>
            <a:endParaRPr lang="en-GB" sz="1600" dirty="0"/>
          </a:p>
          <a:p>
            <a:pPr marL="114300" indent="0">
              <a:buNone/>
            </a:pPr>
            <a:r>
              <a:rPr lang="en-GB" sz="1600" b="1" dirty="0" err="1"/>
              <a:t>Behavioral</a:t>
            </a:r>
            <a:r>
              <a:rPr lang="en-GB" sz="1600" b="1" dirty="0"/>
              <a:t> / Video AI in Hiring</a:t>
            </a:r>
          </a:p>
          <a:p>
            <a:pPr marL="114300" indent="0">
              <a:buNone/>
            </a:pPr>
            <a:r>
              <a:rPr lang="en-GB" sz="1600" b="1" dirty="0" err="1"/>
              <a:t>HireVue</a:t>
            </a:r>
            <a:r>
              <a:rPr lang="en-GB" sz="1600" b="1" dirty="0"/>
              <a:t> – AI Evaluation of Video Interviews</a:t>
            </a:r>
          </a:p>
          <a:p>
            <a:pPr marL="114300" indent="0">
              <a:buNone/>
            </a:pPr>
            <a:r>
              <a:rPr lang="en-GB" sz="1600" dirty="0">
                <a:hlinkClick r:id="rId6"/>
              </a:rPr>
              <a:t>https://digidai.github.io/2025/07/26/hirevue-deep-analysis/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9285926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Q&amp;A</a:t>
            </a:r>
            <a:endParaRPr/>
          </a:p>
        </p:txBody>
      </p:sp>
      <p:sp>
        <p:nvSpPr>
          <p:cNvPr id="192" name="Google Shape;192;p2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  <a:p>
            <a:pPr marL="2628900" lvl="0" indent="11430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GB"/>
              <a:t>Any 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1851</TotalTime>
  <Words>698</Words>
  <Application>Microsoft Macintosh PowerPoint</Application>
  <PresentationFormat>On-screen Show (4:3)</PresentationFormat>
  <Paragraphs>109</Paragraphs>
  <Slides>24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GitHub &amp; LinkedIn: Your Digital CV</vt:lpstr>
      <vt:lpstr>RECAP</vt:lpstr>
      <vt:lpstr>Competition</vt:lpstr>
      <vt:lpstr>Companies</vt:lpstr>
      <vt:lpstr>CV</vt:lpstr>
      <vt:lpstr>What is Experience?</vt:lpstr>
      <vt:lpstr>CV Screening in the Modern Market</vt:lpstr>
      <vt:lpstr>Agenda</vt:lpstr>
      <vt:lpstr>Hiring Workflow</vt:lpstr>
      <vt:lpstr>Job Fair</vt:lpstr>
      <vt:lpstr>Online Form</vt:lpstr>
      <vt:lpstr>Email</vt:lpstr>
      <vt:lpstr>Traditional Screening (Past)</vt:lpstr>
      <vt:lpstr>Excel Era (Mid-Sized Companies)</vt:lpstr>
      <vt:lpstr>Modern Screening (Today)</vt:lpstr>
      <vt:lpstr>PowerPoint Presentation</vt:lpstr>
      <vt:lpstr>How ATS Works</vt:lpstr>
      <vt:lpstr>Recruiter’s Workflow (Today)</vt:lpstr>
      <vt:lpstr>Impact of CV Formatting</vt:lpstr>
      <vt:lpstr>One CV, Different Job Descriptions</vt:lpstr>
      <vt:lpstr>One CV, Different ATS Platforms</vt:lpstr>
      <vt:lpstr>Keyword Optimization &amp; Wording</vt:lpstr>
      <vt:lpstr>Adv. Intellegent ATS (2025 &amp; Beyond)</vt:lpstr>
      <vt:lpstr>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Abdul Rehman</cp:lastModifiedBy>
  <cp:revision>2</cp:revision>
  <dcterms:modified xsi:type="dcterms:W3CDTF">2025-11-15T06:30:10Z</dcterms:modified>
</cp:coreProperties>
</file>